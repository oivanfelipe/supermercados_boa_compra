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Boa Compra (atual)</c:v>
                </c:pt>
              </c:strCache>
            </c:strRef>
          </c:tx>
          <c:spPr>
            <a:solidFill>
              <a:srgbClr val="C00000"/>
            </a:solidFill>
            <a:ln w="25400" cap="flat">
              <a:solidFill>
                <a:srgbClr val="C0000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7"/>
            <c:spPr>
              <a:solidFill>
                <a:srgbClr val="C00000"/>
              </a:solidFill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Conteúdo Orgânico</c:v>
                  </c:pt>
                  <c:pt idx="1">
                    <c:v>Performance Paga</c:v>
                  </c:pt>
                  <c:pt idx="2">
                    <c:v>Metrificação/ROI</c:v>
                  </c:pt>
                  <c:pt idx="3">
                    <c:v>Clube de Fidelidade</c:v>
                  </c:pt>
                  <c:pt idx="4">
                    <c:v>Retenção/CRM</c:v>
                  </c:pt>
                  <c:pt idx="5">
                    <c:v>Integração de Canais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3</c:v>
                </c:pt>
                <c:pt idx="2">
                  <c:v>2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Hiper Farol</c:v>
                </c:pt>
              </c:strCache>
            </c:strRef>
          </c:tx>
          <c:spPr>
            <a:solidFill>
              <a:srgbClr val="AAAAAA"/>
            </a:solidFill>
            <a:ln w="25400" cap="flat">
              <a:solidFill>
                <a:srgbClr val="AAAAAA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7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Conteúdo Orgânico</c:v>
                  </c:pt>
                  <c:pt idx="1">
                    <c:v>Performance Paga</c:v>
                  </c:pt>
                  <c:pt idx="2">
                    <c:v>Metrificação/ROI</c:v>
                  </c:pt>
                  <c:pt idx="3">
                    <c:v>Clube de Fidelidade</c:v>
                  </c:pt>
                  <c:pt idx="4">
                    <c:v>Retenção/CRM</c:v>
                  </c:pt>
                  <c:pt idx="5">
                    <c:v>Integração de Canais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Potencial Boa Compra</c:v>
                </c:pt>
              </c:strCache>
            </c:strRef>
          </c:tx>
          <c:spPr>
            <a:solidFill>
              <a:srgbClr val="1B7F37"/>
            </a:solidFill>
            <a:ln w="25400" cap="flat">
              <a:solidFill>
                <a:srgbClr val="1B7F37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7"/>
            <c:spPr>
              <a:solidFill>
                <a:srgbClr val="1B7F37"/>
              </a:solidFill>
              <a:ln w="9525" cap="flat">
                <a:solidFill>
                  <a:srgbClr val="1B7F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Conteúdo Orgânico</c:v>
                  </c:pt>
                  <c:pt idx="1">
                    <c:v>Performance Paga</c:v>
                  </c:pt>
                  <c:pt idx="2">
                    <c:v>Metrificação/ROI</c:v>
                  </c:pt>
                  <c:pt idx="3">
                    <c:v>Clube de Fidelidade</c:v>
                  </c:pt>
                  <c:pt idx="4">
                    <c:v>Retenção/CRM</c:v>
                  </c:pt>
                  <c:pt idx="5">
                    <c:v>Integração de Canais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C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92024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SUPERMERCADOS BOA COMPRA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423160"/>
            <a:ext cx="11247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PROPOSTA</a:t>
            </a:r>
            <a:endParaRPr lang="en-US" sz="6200" dirty="0"/>
          </a:p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ESTRATÉGICA 360°</a:t>
            </a:r>
            <a:endParaRPr lang="en-US" sz="6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389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de performance integrado para redes de supermercados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92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 /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D9D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BOA COMPRA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6400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APRESENTAÇÃO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AGENDA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cobrir nesta apresentação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SOMOS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02082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Carvalho &amp; Co — metodologia, cases e resultados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11247120" cy="13716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5420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8254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 Compra no digital — o que encontramos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11247120" cy="13716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3467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3467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CONCORRENTES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630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os concorrentes atuam hoje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05072"/>
            <a:ext cx="11247120" cy="13716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15137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151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360°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4348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completa: aquisição, engajamento, monetização e retenção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09744"/>
            <a:ext cx="11247120" cy="13716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9560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956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METRIFICAÇÃO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23951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KPIs, canais conectados e próximos passos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estruturada em cinco blocos: diagnóstico, análise competitiva, estratégia, metrificação e próximos passos.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3172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QUEM SOMOS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Carvalho &amp; Co — metodologia e resultados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509760" y="6400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 — QUEM SOMOS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METODOLOGIA V4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que conecta marketing a resultado real de negócio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"Vender o seu produto, para mais pessoas, mais vezes e por um maior valor."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702052" cy="356616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31720"/>
            <a:ext cx="64008" cy="3566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459736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916936"/>
            <a:ext cx="2427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AQUISIÇÃO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191256"/>
            <a:ext cx="242773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Trazer os clientes certos para a marca por meio de canais digitais e offline integrados, com segmentação geolocalizada.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87268" y="2331720"/>
            <a:ext cx="2702052" cy="356616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87268" y="2331720"/>
            <a:ext cx="64008" cy="3566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51860" y="2459736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3451860" y="2916936"/>
            <a:ext cx="2427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ENGAJAMENTO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451860" y="3191256"/>
            <a:ext cx="242773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Nutrir o relacionamento com ofertas, conteúdo e comunicação relevante para aumentar frequência de visita.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17336" y="2331720"/>
            <a:ext cx="2702052" cy="356616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17336" y="2331720"/>
            <a:ext cx="64008" cy="3566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81928" y="2459736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281928" y="2916936"/>
            <a:ext cx="2427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MONETIZAÇÃO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81928" y="3191256"/>
            <a:ext cx="242773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atenção em compra com cupons rastreáveis, clube de desconto e canais de venda direta.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47404" y="2331720"/>
            <a:ext cx="2702052" cy="356616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47404" y="2331720"/>
            <a:ext cx="64008" cy="3566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11996" y="2459736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9111996" y="2916936"/>
            <a:ext cx="2427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RETENÇÃO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111996" y="3191256"/>
            <a:ext cx="242773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 o cliente comprar mais vezes e por maior valor com régua de ativação, CRM e campanhas segmentadas.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metodologia V4 conecta cada canal de marketing a uma métrica de negócio mensurável — sem dado, não há gestão possível.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 — QUEM SOMOS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CASE JOSAPAR — TIO JOÃO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de faturamento digital para a maior marca de arroz do Brasil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9339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Josapar, detentora da marca Tio João, buscava ampliar sua presença no e-commerce e supermercados parceiros, com baixa visibilidade digital e ausência de estratégia de performance estruturada.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2702052" cy="333756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51760"/>
            <a:ext cx="64008" cy="33375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779776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+340%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236976"/>
            <a:ext cx="2427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511296"/>
            <a:ext cx="24277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sobre o investimento em mídia paga no e-commerce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87268" y="2651760"/>
            <a:ext cx="2702052" cy="333756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87268" y="2651760"/>
            <a:ext cx="64008" cy="33375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51860" y="2779776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+128%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3451860" y="3236976"/>
            <a:ext cx="2427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451860" y="3511296"/>
            <a:ext cx="24277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de vendas digitais em 8 meses de gestão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17336" y="2651760"/>
            <a:ext cx="2702052" cy="333756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17336" y="2651760"/>
            <a:ext cx="64008" cy="33375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81928" y="2779776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R$ 4,2M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6281928" y="3236976"/>
            <a:ext cx="2427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281928" y="3511296"/>
            <a:ext cx="24277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digital gerada via canais rastreados nos primeiros 12 meses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47404" y="2651760"/>
            <a:ext cx="2702052" cy="333756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47404" y="2651760"/>
            <a:ext cx="64008" cy="33375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11996" y="2779776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3×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9111996" y="3236976"/>
            <a:ext cx="2427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FREQUÊNCIA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111996" y="3511296"/>
            <a:ext cx="24277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Aumento na frequência de compra de clientes do clube de fidelidade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Josapar comprovou que conectar marca e dados de vendas transforma investimento em marketing em crescimento mensurável e previsível.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 — QUEM SOMOS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MAIS RESULTADOS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seleção de clientes e crescimentos gerados com a metodologia V4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39312" cy="411480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64008" cy="41148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956816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ALIMENTÍCIO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231136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regional de supermercados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578608"/>
            <a:ext cx="3364992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+215% em conversões digitais após estruturação de pixel e funil de remarketing geolocalizado.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5504688"/>
            <a:ext cx="3383280" cy="292608"/>
          </a:xfrm>
          <a:prstGeom prst="rect">
            <a:avLst/>
          </a:prstGeom>
          <a:solidFill>
            <a:srgbClr val="E6F4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+215% CONVERSÃO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42816" y="1828800"/>
            <a:ext cx="3639312" cy="411480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42816" y="1828800"/>
            <a:ext cx="64008" cy="41148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07408" y="1956816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VAREJO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407408" y="2231136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de lojas físicas c/ e-commerce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07408" y="2578608"/>
            <a:ext cx="3364992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de 8:1 em campanhas de Meta Ads após implementação de catálogo dinâmico e clube de fidelidade.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07408" y="5504688"/>
            <a:ext cx="3383280" cy="292608"/>
          </a:xfrm>
          <a:prstGeom prst="rect">
            <a:avLst/>
          </a:prstGeom>
          <a:solidFill>
            <a:srgbClr val="E6F4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8:1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28432" y="1828800"/>
            <a:ext cx="3639312" cy="411480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28432" y="1828800"/>
            <a:ext cx="64008" cy="41148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93024" y="1956816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CONSUMO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193024" y="2231136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de produtos de mercearia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193024" y="2578608"/>
            <a:ext cx="3364992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de 3× na frequência de compra com régua de WhatsApp e cupons rastreáveis.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193024" y="5504688"/>
            <a:ext cx="3383280" cy="292608"/>
          </a:xfrm>
          <a:prstGeom prst="rect">
            <a:avLst/>
          </a:prstGeom>
          <a:solidFill>
            <a:srgbClr val="E6F4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 FREQUÊNCIA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Independentemente do setor, o padrão se repete: dados corretos aplicados à mídia certa geram crescimento previsível.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3172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DIAGNÓSTICO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encontramos na operação digital da Boa Compra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509760" y="6400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 — DIAGNÓSTICO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PANORAMA DA BOA COMPRA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regional consolidada com presença em seis municípios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702052" cy="411480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64008" cy="41148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956816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414016"/>
            <a:ext cx="2427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688336"/>
            <a:ext cx="2427732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Norte de Minas, Vale do Jequitinhonha e Vale do Mucuri — três regiões com perfis distintos de consumo.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87268" y="1828800"/>
            <a:ext cx="2702052" cy="411480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87268" y="1828800"/>
            <a:ext cx="64008" cy="41148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51860" y="1956816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R$16M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451860" y="2414016"/>
            <a:ext cx="2427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MÁX./MÊS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451860" y="2688336"/>
            <a:ext cx="2427732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saudável em crescente, sem dor imediata de faturamento — a demanda é por escala com controle.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7336" y="1828800"/>
            <a:ext cx="2702052" cy="411480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17336" y="1828800"/>
            <a:ext cx="64008" cy="41148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1956816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4+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281928" y="2414016"/>
            <a:ext cx="2427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CANAIS DE MÍDIA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281928" y="2688336"/>
            <a:ext cx="2427732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Ads, Google, YouTube, carro de som, rádio e outdoor utilizados — sem integração entre canais.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47404" y="1828800"/>
            <a:ext cx="2702052" cy="411480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47404" y="1828800"/>
            <a:ext cx="64008" cy="41148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11996" y="1956816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9111996" y="2414016"/>
            <a:ext cx="2427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 ATIVA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111996" y="2688336"/>
            <a:ext cx="2427732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 1 campanha identificada no Meta Ads durante a análise — voltada ao Clube de Desconto.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Boa Compra tem escala, histórico e múltiplos canais ativos — o que falta é visibilidade sobre o que, de fato, está vendendo.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 — DIAGNÓSTICO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PRESENÇA DIGITAL ATUAL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identificado ao analisar os canais da Boa Compra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1907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(INSTAGRAM/FACEBOOK)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1719072"/>
            <a:ext cx="1325880" cy="237744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75104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de R$2.000–R$3.000/mês. Campanhas individuais de R$300–500. Único anúncio ativo encontrado na Biblioteca de Anúncios era voltado ao Clube de Desconto. Apenas alcance como métrica de resultado.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553212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53912" y="171907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314432" y="1719072"/>
            <a:ext cx="1325880" cy="237744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 (SEM ACESSO)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153912" y="1975104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Gerenciado pela agência atual. Sem visibilidade interna dos investimentos, KPIs ou estrutura de campanhas. Sem confirmação de pixel de conversão ativo.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53912" y="2395728"/>
            <a:ext cx="553212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49631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496312"/>
            <a:ext cx="1325880" cy="237744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ESPORÁDICO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752344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Utilizado para campanhas institucionais de awareness. Sem estratégia de funil ou remarketing. Baixo volume.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72968"/>
            <a:ext cx="553212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53912" y="249631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314432" y="2496312"/>
            <a:ext cx="1325880" cy="237744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153912" y="2752344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Utilizado como canal de relacionamento e envio de promoções. Sem automação, régua de mensagens ou segmentação por loja/região.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53912" y="3172968"/>
            <a:ext cx="553212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27355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3273552"/>
            <a:ext cx="1325880" cy="237744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DESENVOLVIMENTO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529584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em construção pela agência atual. Sem pixel de conversão, sem e-commerce, sem integração com campanhas pagas.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950208"/>
            <a:ext cx="553212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53912" y="327355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MÍDIAS OFFLINE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314432" y="3273552"/>
            <a:ext cx="1325880" cy="237744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153912" y="3529584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 de som e rádio utilizados regularmente. Outdoor variável. Sem rastreamento de impacto ou integração com campanhas digitais.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53912" y="3950208"/>
            <a:ext cx="553212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Múltiplos canais ativos e nenhum conectado: cada plataforma opera isolada, sem compartilhar dados de conversão com as demais.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 — DIAGNÓSTICO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PROBLEMA CENTRAL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obstáculo que impede a escala não é falta de investimento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1907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"Não é problema de investimento. É problema de metrificação."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54864" cy="1645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245059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NÃO É VENDAS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2743200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FATO OBSERVADO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3504" y="2980944"/>
            <a:ext cx="53126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campanhas atuais medem apenas impressões e alcance. Não há rastreamento de quem entrou no clube, visitou a loja ou comprou um produto específico após ver um anúncio.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2359152"/>
            <a:ext cx="54864" cy="1645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18504" y="245059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PIXEL, SEM FUNIL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18504" y="2743200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FATO OBSERVADO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318504" y="2980944"/>
            <a:ext cx="53126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site está em construção e não há pixel de conversão ativo no Meta ou Google. Isso torna impossível medir ROAS, reaproveitar públicos ou fazer remarketing com base em comportamento real.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54864" cy="1645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" y="4206240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CANAIS NÃO SE CONVERSAM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4498848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HIPÓTESE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4736592"/>
            <a:ext cx="53126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outdoor gera interesse. O carro de som gera presença. A campanha no Meta gera clique. Mas nenhum desses canais retroalimenta o outro com dados — não existe atribuição de resultado por canal.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4114800"/>
            <a:ext cx="54864" cy="1645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18504" y="4206240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ESCALAR SEM DADOS DESTRÓI MARGEM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18504" y="4498848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HIPÓTESE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318504" y="4736592"/>
            <a:ext cx="53126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Dobrar o investimento em Meta sem saber o que converte pode apenas dobrar o custo por cliente sem dobrar as vendas. O crescimento sustentável exige dados antes de escala.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principal alavanca disponível não é mais verba — é estruturar dados para saber onde, para quem e como o dinheiro está gerando retorno.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3172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CONCORRENTES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os competidores diretos se posicionam no digital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509760" y="6400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 — CONCORRENTES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VISÃO GERAL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concorrentes regionais analisados quanto à estratégia digital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37360"/>
            <a:ext cx="2194560" cy="347472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670048" y="1737360"/>
            <a:ext cx="2011680" cy="347472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 FAROL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700016" y="1737360"/>
            <a:ext cx="2194560" cy="347472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XERETA ALMENARA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912864" y="1737360"/>
            <a:ext cx="2011680" cy="347472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SACOLÃO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942832" y="1737360"/>
            <a:ext cx="2011680" cy="347472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 COMPRA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103120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Presença Instagram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2103120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00016" y="2103120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12864" y="2103120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942832" y="2103120"/>
            <a:ext cx="2011680" cy="457200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578608"/>
            <a:ext cx="219456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de oferta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670048" y="2578608"/>
            <a:ext cx="201168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freq.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700016" y="2578608"/>
            <a:ext cx="219456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freq.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912864" y="2578608"/>
            <a:ext cx="201168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freq.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2578608"/>
            <a:ext cx="2011680" cy="457200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freq.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054096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pagas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670048" y="3054096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700016" y="3054096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ident.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912864" y="3054096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ident.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942832" y="3054096"/>
            <a:ext cx="2011680" cy="457200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 (1 camp.)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529584"/>
            <a:ext cx="219456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Clube/programa fidel.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670048" y="3529584"/>
            <a:ext cx="201168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700016" y="3529584"/>
            <a:ext cx="219456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ident.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912864" y="3529584"/>
            <a:ext cx="201168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ident.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942832" y="3529584"/>
            <a:ext cx="2011680" cy="457200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 (ativo)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005072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WhatsApp/CRM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670048" y="4005072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ident.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700016" y="4005072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ident.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912864" y="4005072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ident.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942832" y="4005072"/>
            <a:ext cx="2011680" cy="457200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 (manual)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480560"/>
            <a:ext cx="219456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Site/e-commerce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2670048" y="4480560"/>
            <a:ext cx="201168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700016" y="4480560"/>
            <a:ext cx="219456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ident.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912864" y="4480560"/>
            <a:ext cx="201168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ident.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942832" y="4480560"/>
            <a:ext cx="2011680" cy="457200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construção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4956048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Rastreamento digital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2670048" y="4956048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ident.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700016" y="4956048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ident.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912864" y="4956048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ident.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942832" y="4956048"/>
            <a:ext cx="2011680" cy="457200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Ausente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concorrentes têm presença orgânica ativa mas nenhum demonstra estratégia de performance estruturada — há espaço para liderança digital.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 — CONCORRENTES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HIPER FAROL SUPERMERCADO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Concorrente com maior estrutura e presença digital na região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54864" cy="1691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" y="181051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E FREQUÊNCIA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2103120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FATO OBSERVADO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2340864"/>
            <a:ext cx="53126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Presença consistente no Instagram com posts diários de ofertas, produtos sazonais e campanhas temáticas. Volume de conteúdo elevado e identidade visual reconhecível.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719072"/>
            <a:ext cx="54864" cy="1691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18504" y="181051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E ALCANCE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18504" y="2103120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FATO OBSERVADO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18504" y="2340864"/>
            <a:ext cx="53126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Anúncios identificados no Meta com criativos de oferta direta. Foco em alcance regional. Sem evidência de pixel de conversão ou funil de remarketing estruturado.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47872"/>
            <a:ext cx="54864" cy="1691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" y="363931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CLUBE E FIDELIDADE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3931920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FATO OBSERVADO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4169664"/>
            <a:ext cx="53126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de fidelidade visível nas comunicações. Usado como argumento de atração no conteúdo orgânico. Sem rastreamento digital identificado das conversões do clube.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547872"/>
            <a:ext cx="54864" cy="1691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18504" y="363931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FRACO IDENTIFICADO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18504" y="3931920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HIPÓTESE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318504" y="4169664"/>
            <a:ext cx="53126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Apesar do volume, não há indicação de integração entre canais ou metrificação de ROI. A estratégia parece baseada em visibilidade, não em performance mensurável.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Hiper Farol lidera em volume de conteúdo mas apresenta o mesmo gap de metrificação da Boa Compra — quem estruturar dados primeiro leva vantagem.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 — CONCORRENTES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XERETA ALMENARA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Concorrente com presença local e foco em comunicação de oferta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54864" cy="1691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" y="181051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POSICIONAMENTO DE PREÇO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2103120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FATO OBSERVADO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2340864"/>
            <a:ext cx="53126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centrada em preço baixo e promoções semanais. Nome da marca ("Xereta") reforça o posicionamento de economia. Audiência local engajada com conteúdo de oferta.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719072"/>
            <a:ext cx="54864" cy="1691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18504" y="181051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PRESENÇA NO INSTAGRAM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18504" y="2103120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FATO OBSERVADO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18504" y="2340864"/>
            <a:ext cx="53126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ativo com foco em posts de produto e preço. Frequência regular de publicações. Engajamento moderado. Ausência de campanhas pagas identificadas na Biblioteca de Anúncios.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47872"/>
            <a:ext cx="54864" cy="1691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" y="363931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AUSÊNCIA DE PERFORMANCE DIGITAL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3931920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HIPÓTESE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4169664"/>
            <a:ext cx="53126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evidência de tráfego pago estruturado, pixel de conversão, clube de fidelidade digital ou canais de comunicação direta (WhatsApp, grupos). Estratégia 100% orgânica.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547872"/>
            <a:ext cx="54864" cy="1691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18504" y="363931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DE DIFERENCIAÇÃO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18504" y="3931920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HIPÓTESE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318504" y="4169664"/>
            <a:ext cx="53126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Boa Compra pode superar o Xereta no digital com campanhas de performance geolocalizadas e um clube de desconto rastreável — atributos que o concorrente não demonstra possuir.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Xereta disputa o mesmo cliente pelo preço, mas sem estrutura digital de performance — a Boa Compra pode dominar esse segmento com dados.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 — CONCORRENTES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SUPER SACOLÃO ALMENARA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Concorrente focado em hortifrutigranjeiros e volume de compras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54864" cy="1691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" y="181051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POSICIONAMENTO DE PRODUTO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2103120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FATO OBSERVADO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2340864"/>
            <a:ext cx="53126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voltada a volume e variedade — feiras, hortifruti, produtos frescos. Apelo à compra de abastecimento semanal. Preço como argumento central.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719072"/>
            <a:ext cx="54864" cy="1691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18504" y="181051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ORGÂNICA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18504" y="2103120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FATO OBSERVADO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18504" y="2340864"/>
            <a:ext cx="53126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Presença no Instagram com posts de produtos, preços e promoções. Frequência moderada. Audiência local. Sem campanhas pagas identificadas na Biblioteca de Anúncios do Meta.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47872"/>
            <a:ext cx="54864" cy="1691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" y="363931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CANAIS LIMITADOS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3931920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FATO OBSERVADO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4169664"/>
            <a:ext cx="53126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foram identificados programas de fidelidade, WhatsApp de relacionamento, site próprio ou estratégia de tráfego pago. Operação predominantemente orgânica e offline.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547872"/>
            <a:ext cx="54864" cy="1691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18504" y="363931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DE RETENÇÃO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18504" y="3931920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HIPÓTESE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318504" y="4169664"/>
            <a:ext cx="53126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canal de comunicação direta com o cliente (WhatsApp/app), o Super Sacolão depende exclusivamente da memória e do hábito para fidelizar. A Boa Compra pode superar isso com régua de ativação.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Super Sacolão compete em conveniência de produto mas carece de presença digital estruturada — terreno favorável para a Boa Compra avançar.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 — CONCORRENTES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MATURIDADE DIGITAL COMPARATIVA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de 0–10 em seis dimensões estratégicas do marketing digital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691640"/>
          <a:ext cx="64008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132320" y="1719072"/>
            <a:ext cx="54864" cy="9601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78624" y="181051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ORGÂNICA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278624" y="2103120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Boa Compra já possui boa presença de conteúdo. Ponto de partida sólido.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32320" y="2779776"/>
            <a:ext cx="54864" cy="9601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78624" y="2871216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DE PERFORMANCE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278624" y="3163824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Metrificação e campanhas de performance são o maior diferencial a construir.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32320" y="3840480"/>
            <a:ext cx="54864" cy="9601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78624" y="393192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RETENÇÃO INEXPLORADA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278624" y="4224528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concorrente demonstra régua de CRM estruturada — blue ocean de retenção.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32320" y="4901184"/>
            <a:ext cx="54864" cy="9601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78624" y="4992624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POTENCIAL DE LIDERANÇA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278624" y="5285232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os pilares corretos, a Boa Compra pode alcançar nota 8–9 em todas as dimensões.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mercado regional não tem líder digital consolidado — a Boa Compra pode ocupar esse espaço com estrutura, dados e integração de canais.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3172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PLANO 360°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completa: aquisição, engajamento, monetização e retenção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509760" y="6400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 — PLANO 360°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VISÃO DO FUNIL ESTRATÉGICO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etapas integradas que transformam desconhecido em cliente recorrente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124712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10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  AQUISIÇÃO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03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 o cliente nos conhecer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22219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· Meta · OOH · Carro de Som · Rádio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999232"/>
            <a:ext cx="10332720" cy="10058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30723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  ENGAJAMENTO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3649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preferência e recorrência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33924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Clube de Desconto · WhatsApp · Conteúdo Semanal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4078224"/>
            <a:ext cx="9418320" cy="8229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45920" y="41513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  MONETIZAÇÃO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4439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atenção em compra rastreável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3799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Cupons Rastreáveis · App · Promoção Relâmpago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4974336"/>
            <a:ext cx="8503920" cy="68580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03120" y="50474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  RETENÇÃO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534009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 o cliente comprar mais vezes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52075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de Ativação · CRM · Campanhas de Reativação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etapa do funil gera dados que alimentam a próxima. Sem aquisição medida, não há engajamento eficiente. Sem retenção, o custo de aquisição cresce indefinidamente.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 — PLANO 360°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AQUISIÇÃO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Canais e estratégias para atrair novos clientes com rastreamento de resultado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5513832" cy="178308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19072"/>
            <a:ext cx="64008" cy="17830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84708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— PRIORIDADE ALTA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121408"/>
            <a:ext cx="5239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468880"/>
            <a:ext cx="52395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geolocalizadas por unidade. Segmentação por interesse em supermercado e produtos. Pixel de conversão ativo. ROAS como KPI principal. Criativos de oferta semanais com call-to-action para o clube.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154680"/>
            <a:ext cx="5257800" cy="25603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ROAS / Custo por lead no clube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719072"/>
            <a:ext cx="5513832" cy="178308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719072"/>
            <a:ext cx="64008" cy="17830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36792" y="184708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— PRIORIDADE ALTA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36792" y="2121408"/>
            <a:ext cx="5239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36792" y="2468880"/>
            <a:ext cx="52395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de busca com palavras-chave de intenção local ("supermercado perto de mim", "ofertas Almenara"). Google Maps integrado para direcionar visita à loja. Conversion tracking configurado.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36792" y="3154680"/>
            <a:ext cx="5257800" cy="25603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CPC / Visitas à loja rastreadas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39312"/>
            <a:ext cx="5513832" cy="178308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639312"/>
            <a:ext cx="64008" cy="17830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376732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— PRIORIDADE MÉDIA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4041648"/>
            <a:ext cx="5239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 DE SOM + RÁDIO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4389120"/>
            <a:ext cx="52395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campanhas offline com código de cupom exclusivo. O cupom resgatado na loja conecta a mídia offline à venda real. Permite metrificar o retorno de cada canal físico.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5074920"/>
            <a:ext cx="5257800" cy="25603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Cupons resgatados por campanha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3639312"/>
            <a:ext cx="5513832" cy="178308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3639312"/>
            <a:ext cx="64008" cy="17830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36792" y="376732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— VARIÁVEL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336792" y="4041648"/>
            <a:ext cx="5239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/ OOH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336792" y="4389120"/>
            <a:ext cx="52395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Reforço de marca em pontos estratégicos próximos às unidades. QR code e código de oferta para rastrear conversão. Alinhado com datas comemorativas e campanhas digitais simultâneas.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336792" y="5074920"/>
            <a:ext cx="5257800" cy="25603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Scans de QR / Volume de visitas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aquisição só se justifica quando cada canal tem uma métrica de retorno. O cupom rastreável é o elo entre mídia offline e resultado de caixa.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 — PLANO 360°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ENGAJAMENTO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relacionamento para que a Boa Compra seja a referência de preço e qualidade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54864" cy="1691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" y="181051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CLUBE DE DESCONTO ESTRUTURADO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2103120"/>
            <a:ext cx="53126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Evoluir o clube atual para um programa de fidelidade com cadastro digital, histórico de compras e ofertas personalizadas por perfil de compra. Cada membro do clube vira um dado rastreável.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719072"/>
            <a:ext cx="54864" cy="1691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18504" y="181051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WHATSAPP SEGMENTADO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2103120"/>
            <a:ext cx="53126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por cidade/unidade com ofertas semanais, promoções relâmpago e conteúdo de culinária. Mensagens automatizadas em datas estratégicas. Régua de boas-vindas para novos membros do clube.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47872"/>
            <a:ext cx="54864" cy="1691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" y="363931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DE AUTORIDADE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" y="3931920"/>
            <a:ext cx="53126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Posicionar a Boa Compra como a referência de economia regional. Posts de comparação de preço, dicas de economia doméstica, receitas com produtos em oferta. Construção de autoridade orgânica.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547872"/>
            <a:ext cx="54864" cy="1691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18504" y="363931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PROMOÇÕES SEMANAIS INTEGRADAS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18504" y="3931920"/>
            <a:ext cx="53126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Ofertas alinhadas entre todos os canais: Meta, WhatsApp, carro de som e folder físico. A mesma oferta no digital e no físico, com o mesmo cupom — para metrificar o canal de maior conversão.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Engajamento sem canal de comunicação direta depende de sorte. Com WhatsApp estruturado e clube ativo, a Boa Compra controla a frequência de contato com seus clientes.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 — PLANO 360°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MONETIZAÇÃO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atenção e relacionamento em vendas rastreáveis e repetíveis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639312" cy="224028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37360"/>
            <a:ext cx="64008" cy="22402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865376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322576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CUPOM RASTREÁVEL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596896"/>
            <a:ext cx="336499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campanha gera um código único. O cupom resgatado na loja confirma qual canal gerou a venda. Conecta offline e digital em um único dado.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33672" y="1737360"/>
            <a:ext cx="3639312" cy="224028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33672" y="1737360"/>
            <a:ext cx="64008" cy="22402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98264" y="1865376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398264" y="2322576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 DE ABERTURA DE CLUBE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398264" y="2596896"/>
            <a:ext cx="336499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Desconto exclusivo para novos cadastros no clube. Transforma visitante em membro rastreável. Aumenta a base de contatos para comunicação direta.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10144" y="1737360"/>
            <a:ext cx="3639312" cy="224028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10144" y="1737360"/>
            <a:ext cx="64008" cy="22402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74736" y="1865376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174736" y="2322576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MÉDIO E UPSELL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174736" y="2596896"/>
            <a:ext cx="336499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de "compre junto", "leve mais, gaste menos" e combos semanais para aumentar o ticket médio por visita. Meta orientada por dado de compra do clube.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87368"/>
            <a:ext cx="3639312" cy="224028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87368"/>
            <a:ext cx="64008" cy="22402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" y="4215384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" y="467258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PROMOÇÃO RELÂMPAGO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" y="4946904"/>
            <a:ext cx="336499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 com prazo curto no WhatsApp (48h). Gera urgência, aumenta frequência de visita e é completamente mensurável pelo volume de cupons resgatados.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33672" y="4087368"/>
            <a:ext cx="3639312" cy="224028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33672" y="4087368"/>
            <a:ext cx="64008" cy="22402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98264" y="4215384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4398264" y="467258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 SAZONAIS PLANEJADAS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398264" y="4946904"/>
            <a:ext cx="336499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Calendário de campanhas para datas de alto consumo (Natal, Páscoa, mês das mães, Dia do Trabalhador). Antecipação de estoque alinhada com mídia planejada.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10144" y="4087368"/>
            <a:ext cx="3639312" cy="224028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10144" y="4087368"/>
            <a:ext cx="64008" cy="22402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74736" y="4215384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06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8174736" y="467258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 DE INDICAÇÃO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174736" y="4946904"/>
            <a:ext cx="336499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"Indique um amigo e ganhe desconto." Transforma clientes satisfeitos em canal de aquisição de baixo custo. Rastreável por código único de indicação.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Monetização eficiente não é vender mais — é vender de forma que cada venda gere um dado. Dado gera aprendizado. Aprendizado gera a próxima campanha melhor.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 — PLANO 360°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RETENÇÃO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vantagem competitiva mais difícil de copiar é o cliente que não te esquece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19072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"Comprar uma vez é fácil. O jogo é fazer esse cliente comprar para sempre."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54864" cy="18288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242316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DE ATIVAÇÃO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2715768"/>
            <a:ext cx="3438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Sequência automatizada de mensagens no WhatsApp após a primeira compra: boas-vindas no D+1, oferta personalizada no D+7, lembrete de clube no D+15, reativação no D+30 sem compra.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33672" y="2331720"/>
            <a:ext cx="54864" cy="18288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79976" y="242316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SEGMENTAÇÃO POR RFV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379976" y="2715768"/>
            <a:ext cx="3438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Classificar clientes por Recência, Frequência e Valor de compra. Ações distintas para clientes VIP (alta frequência), clientes em risco (sem compra há 30 dias) e inativos (mais de 60 dias).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2331720"/>
            <a:ext cx="54864" cy="18288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56448" y="242316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 DE REATIVAÇÃO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56448" y="2715768"/>
            <a:ext cx="3438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clientes inativos: oferta exclusiva de recuperação enviada por WhatsApp. "Faz tempo que não te vemos — aqui está um desconto especial para sua próxima visita." Rastreável por cupom.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70248"/>
            <a:ext cx="54864" cy="18288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" y="436168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DE RELACIONAMENTO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4654296"/>
            <a:ext cx="3438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de WhatsApp segmentados por cidade/unidade com conteúdo exclusivo para membros do clube. Notícias da semana, primeiros a saber das promoções, voz do cliente.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33672" y="4270248"/>
            <a:ext cx="54864" cy="18288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79976" y="436168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ANIVERSARIANTES DO MÊS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379976" y="4654296"/>
            <a:ext cx="3438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automática com desconto no mês do aniversário do cliente. Gera reciprocidade emocional, aumenta frequência de visita e cria lembrança de marca em data pessoal importante.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10144" y="4270248"/>
            <a:ext cx="54864" cy="18288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56448" y="436168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RETENÇÃO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156448" y="4654296"/>
            <a:ext cx="3438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mensal com taxa de retorno, ticket médio por segmento, clientes em risco e campanhas mais eficientes. Base para decisão de onde investir na retenção do mês seguinte.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Retenção é o único pilar que aumenta o ROI de todos os outros canais — cada cliente retido reduz o custo de aquisição necessário para crescer.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 — PLANO 360°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ECOSSISTEMA CONECTADO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canal alimenta o próximo — e cada ação gera uma métrica de resultado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9264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274320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AQUISIÇÃO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3042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OOH / CARRO DE SOM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1920240"/>
            <a:ext cx="2743200" cy="12801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4904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ENGAJAMENTO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23042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CLUBE DE DESCONTO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1920240"/>
            <a:ext cx="2743200" cy="1280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MONETIZAÇÃO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3042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CUPONS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MÉDIO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0" y="1920240"/>
            <a:ext cx="2103120" cy="12801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4984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RETENÇÃO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0" y="230428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RFV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REATIVAÇÃO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FIDELIDADE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4290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 MÉTRICAS GERADOS: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ROAS por canal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 por membro do clube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Taxa de abertura WhatsApp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Cupons resgatados por campanha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087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Ticket médio por segmento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4087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Taxa de reativação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4087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CLV (lifetime value)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ecossistema de marketing 360° só entrega ROI quando cada canal gera dados que realimentam os demais. É a diferença entre gastar e investir.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3172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METRIFICAÇÃO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KPIs, dashboards e como transformar cada real investido em dado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509760" y="6400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 — METRIFICAÇÃO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KPIS POR CANAL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medir em cada canal para garantir que o investimento gera retorno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19072"/>
            <a:ext cx="3474720" cy="347472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950208" y="1719072"/>
            <a:ext cx="2286000" cy="347472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PRINCIPAL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54496" y="1719072"/>
            <a:ext cx="2926080" cy="347472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SECUNDÁRIO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98864" y="1719072"/>
            <a:ext cx="1645920" cy="347472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FREQUÊNCIA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084832"/>
            <a:ext cx="347472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(Instagram/Facebook)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950208" y="2084832"/>
            <a:ext cx="22860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54496" y="2084832"/>
            <a:ext cx="29260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por lead no clube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98864" y="2084832"/>
            <a:ext cx="164592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542032"/>
            <a:ext cx="347472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(Busca)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950208" y="2542032"/>
            <a:ext cx="228600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 / CTR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2542032"/>
            <a:ext cx="29260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Visitas à loja rastreadas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2542032"/>
            <a:ext cx="164592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999232"/>
            <a:ext cx="347472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(Grupos)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2999232"/>
            <a:ext cx="22860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abertura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2999232"/>
            <a:ext cx="29260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Cupons resgatados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198864" y="2999232"/>
            <a:ext cx="164592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campanha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456432"/>
            <a:ext cx="347472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Clube de Desconto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950208" y="3456432"/>
            <a:ext cx="228600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Membros ativos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54496" y="3456432"/>
            <a:ext cx="29260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médio do membro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198864" y="3456432"/>
            <a:ext cx="164592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913632"/>
            <a:ext cx="347472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Cupons / Ofertas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950208" y="3913632"/>
            <a:ext cx="22860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resgate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254496" y="3913632"/>
            <a:ext cx="29260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 gerada por cupom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198864" y="3913632"/>
            <a:ext cx="164592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campanha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370832"/>
            <a:ext cx="347472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Mídias Offline (Carro/Rádio)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950208" y="4370832"/>
            <a:ext cx="228600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Cupons por campanha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254496" y="4370832"/>
            <a:ext cx="29260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de visitas pós-campanha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198864" y="4370832"/>
            <a:ext cx="164592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828032"/>
            <a:ext cx="347472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Orgânico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950208" y="4828032"/>
            <a:ext cx="22860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engajado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254496" y="4828032"/>
            <a:ext cx="29260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Seguidores novos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198864" y="4828032"/>
            <a:ext cx="164592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5285232"/>
            <a:ext cx="3474720" cy="43891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GERAL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950208" y="5285232"/>
            <a:ext cx="2286000" cy="43891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Total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254496" y="5285232"/>
            <a:ext cx="2926080" cy="43891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Aquisição (CAC)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198864" y="5285232"/>
            <a:ext cx="1645920" cy="43891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o KPI certo por canal é a primeira decisão estratégica do plano. Sem isso, qualquer relatório apresentado pela agência é apenas ruído.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 — METRIFICAÇÃO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PRÓXIMOS PASSOS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 de implementação em três fases para estruturar e escalar o marketing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3639312" cy="420624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19072"/>
            <a:ext cx="3639312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77393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FASE 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048256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ESTRUTURAÇÃO (30 DIAS)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523744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Configuração de pixel de conversão no Meta e Google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163824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Auditoria completa das campanhas atuais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803904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Estruturação do Clube de Desconto com cadastro digital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443984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Definição de KPIs e criação do dashboard de performance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5084064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Criação do funil de WhatsApp com automação básica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42816" y="1719072"/>
            <a:ext cx="3639312" cy="420624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42816" y="1719072"/>
            <a:ext cx="3639312" cy="6858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79976" y="177393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FASE 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79976" y="2048256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ATIVAÇÃO (30–90 DIAS)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379976" y="2523744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Lançamento de campanhas de performance no Meta com pixel ativo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379976" y="3163824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Ativação do Google Ads com foco em intenção local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379976" y="3803904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Integração de cupons rastreáveis em todas as mídias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379976" y="4443984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Primeiras campanhas de WhatsApp segmentadas por unidade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379976" y="5084064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Relatório de ROI por canal ao final de cada quinzena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28432" y="1719072"/>
            <a:ext cx="3639312" cy="420624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8432" y="1719072"/>
            <a:ext cx="3639312" cy="68580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65592" y="177393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FASE 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165592" y="2048256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ESCALA (90–180 DIAS)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165592" y="2523744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Ampliação de verba nos canais com maior ROAS comprovado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165592" y="3163824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Implementação da régua de retenção RFV completa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165592" y="3803904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Testes de novos formatos (TikTok, influenciadores regionais)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165592" y="4443984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Integração de OOH com campanhas digitais por QR code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165592" y="5084064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Revisão de metas e planejamento do próximo semestre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Fase 1 não custa mais — ela reorganiza o que já existe. A escala de verba só acontece na Fase 3, quando os dados garantem que cada real terá retorno mensurável.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 — METRIFICAÇÃO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RESUMO EXECUTIVO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quatro achados principais e a oportunidade de crescimento da Boa Compra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5513832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19072"/>
            <a:ext cx="64008" cy="18288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847088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304288"/>
            <a:ext cx="5239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Canais ativos, ROI invisível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651760"/>
            <a:ext cx="5239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Boa Compra já investe em múltiplos canais. O problema não é orçamento — é metrificação. Sem pixel de conversão, o ROAS é desconhecido.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719072"/>
            <a:ext cx="5513832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719072"/>
            <a:ext cx="64008" cy="18288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36792" y="1847088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336792" y="2304288"/>
            <a:ext cx="5239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local sem líder digital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36792" y="2651760"/>
            <a:ext cx="5239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concorrente analisado demonstra estratégia de performance estruturada. Há espaço real para a Boa Compra se tornar a referência digital da região.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85032"/>
            <a:ext cx="5513832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685032"/>
            <a:ext cx="64008" cy="18288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3813048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4270248"/>
            <a:ext cx="5239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Clube de Desconto como alavanca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4617720"/>
            <a:ext cx="5239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clube já existe e é reconhecido. Digitalizar e rastrear o clube transforma cada promoção em dado de cliente — base para retenção e crescimento de ticket.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3685032"/>
            <a:ext cx="5513832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3685032"/>
            <a:ext cx="64008" cy="18288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36792" y="3813048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336792" y="4270248"/>
            <a:ext cx="5239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Retenção como diferencial sustentável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336792" y="4617720"/>
            <a:ext cx="5239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 de som atrai. Campanha de Meta atrai. Mas a régua de WhatsApp e o CRM são o que faz o cliente voltar toda semana — e isso nenhum concorrente faz hoje.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6144768"/>
            <a:ext cx="11247120" cy="320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 ESTRATÉGICA   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próximo passo é transformar os canais que já existem em canais que geram dados. Com dados, cada real investido passa a ter um retorno identificável.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OBRIGADO.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construir o supermercado mais forte do Norte de Minas.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www.carvalho.co.br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D9D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SUPERMERCADOS BOA COMPRA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509760" y="6400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V4 CARVALHO &amp; CO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2026-09-16T00:47:52Z</dcterms:created>
  <dcterms:modified xsi:type="dcterms:W3CDTF">2026-09-16T00:47:52Z</dcterms:modified>
</cp:coreProperties>
</file>